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26" autoAdjust="0"/>
  </p:normalViewPr>
  <p:slideViewPr>
    <p:cSldViewPr snapToGrid="0" snapToObjects="1">
      <p:cViewPr>
        <p:scale>
          <a:sx n="93" d="100"/>
          <a:sy n="93" d="100"/>
        </p:scale>
        <p:origin x="116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B2E59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0B2E59"/>
                </a:solidFill>
                <a:latin typeface="Arial"/>
              </a:rPr>
              <a:t>Analytics Focus Areas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Weight</c:v>
                </c:pt>
              </c:strCache>
            </c:strRef>
          </c:tx>
          <c:spPr>
            <a:solidFill>
              <a:srgbClr val="1E63C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VaR/CVaR</c:v>
                </c:pt>
                <c:pt idx="1">
                  <c:v>Rolling Sharpe</c:v>
                </c:pt>
                <c:pt idx="2">
                  <c:v>Cohort</c:v>
                </c:pt>
                <c:pt idx="3">
                  <c:v>SIP Cont.</c:v>
                </c:pt>
                <c:pt idx="4">
                  <c:v>Recomm.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65</c:v>
                </c:pt>
                <c:pt idx="2">
                  <c:v>58</c:v>
                </c:pt>
                <c:pt idx="3">
                  <c:v>72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8D-4831-93AB-4878535402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0B2E59"/>
                </a:solidFill>
                <a:latin typeface="Arial"/>
              </a:defRPr>
            </a:pPr>
            <a:r>
              <a:rPr lang="en-IN" sz="1050" b="0" i="0" u="none" strike="noStrike">
                <a:solidFill>
                  <a:srgbClr val="0B2E59"/>
                </a:solidFill>
                <a:latin typeface="Arial"/>
              </a:rPr>
              <a:t>Data Volume Processed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63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E5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NAV Records</c:v>
                </c:pt>
                <c:pt idx="1">
                  <c:v>Investor Transactions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46000</c:v>
                </c:pt>
                <c:pt idx="1">
                  <c:v>32778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6F-4841-9C78-F95D73B928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2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7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chart" Target="../charts/chart1.xml"/><Relationship Id="rId4" Type="http://schemas.openxmlformats.org/officeDocument/2006/relationships/image" Target="../media/image21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9.png"/><Relationship Id="rId5" Type="http://schemas.openxmlformats.org/officeDocument/2006/relationships/image" Target="../media/image5.png"/><Relationship Id="rId10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jp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3291840"/>
            <a:ext cx="3291840" cy="3291840"/>
          </a:xfrm>
          <a:prstGeom prst="ellipse">
            <a:avLst/>
          </a:prstGeom>
          <a:solidFill>
            <a:srgbClr val="123B72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931920"/>
            <a:ext cx="2194560" cy="2194560"/>
          </a:xfrm>
          <a:prstGeom prst="ellipse">
            <a:avLst/>
          </a:prstGeom>
          <a:solidFill>
            <a:srgbClr val="1E63C4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-1188720"/>
            <a:ext cx="2560320" cy="2560320"/>
          </a:xfrm>
          <a:prstGeom prst="ellipse">
            <a:avLst/>
          </a:prstGeom>
          <a:solidFill>
            <a:srgbClr val="123B72"/>
          </a:solidFill>
          <a:ln/>
        </p:spPr>
      </p:sp>
      <p:pic>
        <p:nvPicPr>
          <p:cNvPr id="5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"/>
            <a:ext cx="502920" cy="50292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E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 |  INTERNSHIP CAPSTONE PROJECT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Performance Analytics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Investor Insights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Python, SQL and Power BI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6928" y="3429000"/>
            <a:ext cx="1280160" cy="0"/>
          </a:xfrm>
          <a:prstGeom prst="line">
            <a:avLst/>
          </a:prstGeom>
          <a:noFill/>
          <a:ln w="31750">
            <a:solidFill>
              <a:srgbClr val="1E63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657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Mahajan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39684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Engineering  •  PCCOE  •  Academic Year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716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end-to-end Mutual Fund Analytics Platform using Python, SQLite, SQL, Jupyter Notebook and Power BI.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16 datasets including 10 primary mutual fund datasets and 6 live NAV datasets.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46,000 historical NAV records, 32,778 investor transactions and 40 mutual fund schemes.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ETL, database creation, financial analytics and dashboard reporting.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actionable business insights through interactive dashboards.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4160520"/>
            <a:ext cx="4709160" cy="566928"/>
          </a:xfrm>
          <a:prstGeom prst="roundRect">
            <a:avLst>
              <a:gd name="adj" fmla="val 1129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10" name="Image 1" descr="icons/ic_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3068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3272" y="42336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kern="0" spc="1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transforms raw financial data into meaningful investment insights through an automated analytics workflow.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0" y="1600200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87568" y="174650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705856" y="21122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ic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160" y="2164568"/>
            <a:ext cx="297729" cy="29772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4496" y="211226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907024" y="2514600"/>
            <a:ext cx="0" cy="146304"/>
          </a:xfrm>
          <a:prstGeom prst="line">
            <a:avLst/>
          </a:prstGeom>
          <a:noFill/>
          <a:ln w="19050">
            <a:solidFill>
              <a:srgbClr val="1E63C4"/>
            </a:solidFill>
            <a:prstDash val="dash"/>
          </a:ln>
        </p:spPr>
      </p:sp>
      <p:sp>
        <p:nvSpPr>
          <p:cNvPr id="18" name="Shape 13"/>
          <p:cNvSpPr/>
          <p:nvPr/>
        </p:nvSpPr>
        <p:spPr>
          <a:xfrm>
            <a:off x="5705856" y="26609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icons/ic_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8160" y="2713208"/>
            <a:ext cx="297729" cy="29772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54496" y="266090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907024" y="3063240"/>
            <a:ext cx="0" cy="146304"/>
          </a:xfrm>
          <a:prstGeom prst="line">
            <a:avLst/>
          </a:prstGeom>
          <a:noFill/>
          <a:ln w="19050">
            <a:solidFill>
              <a:srgbClr val="1E63C4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5705856" y="32095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icons/ic_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8160" y="3261848"/>
            <a:ext cx="297729" cy="29772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54496" y="32095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5907024" y="3611880"/>
            <a:ext cx="0" cy="146304"/>
          </a:xfrm>
          <a:prstGeom prst="line">
            <a:avLst/>
          </a:prstGeom>
          <a:noFill/>
          <a:ln w="19050">
            <a:solidFill>
              <a:srgbClr val="1E63C4"/>
            </a:solidFill>
            <a:prstDash val="dash"/>
          </a:ln>
        </p:spPr>
      </p:sp>
      <p:sp>
        <p:nvSpPr>
          <p:cNvPr id="26" name="Shape 19"/>
          <p:cNvSpPr/>
          <p:nvPr/>
        </p:nvSpPr>
        <p:spPr>
          <a:xfrm>
            <a:off x="5705856" y="37581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icons/ic_dashboar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8160" y="3810488"/>
            <a:ext cx="297729" cy="29772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254496" y="375818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7160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validated mutual fund datasets.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missing values and standardized data.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cleaned data in SQLite.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EDA, Performance Analytics and Advanced Analytics.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703320" y="1298448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94760" y="13441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ic_im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068" y="1381476"/>
            <a:ext cx="236281" cy="2362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1298448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229600" y="129844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50208" y="1700784"/>
            <a:ext cx="0" cy="71323"/>
          </a:xfrm>
          <a:prstGeom prst="line">
            <a:avLst/>
          </a:prstGeom>
          <a:noFill/>
          <a:ln w="22225">
            <a:solidFill>
              <a:srgbClr val="1E63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703320" y="1772107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94760" y="1817827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icons/ic_b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2068" y="1855135"/>
            <a:ext cx="236281" cy="2362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33672" y="1772107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0" y="1772107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950208" y="2174443"/>
            <a:ext cx="0" cy="71323"/>
          </a:xfrm>
          <a:prstGeom prst="line">
            <a:avLst/>
          </a:prstGeom>
          <a:noFill/>
          <a:ln w="22225">
            <a:solidFill>
              <a:srgbClr val="1E63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703320" y="2245766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794760" y="229148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icons/ic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2068" y="2328794"/>
            <a:ext cx="236281" cy="23628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233672" y="224576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229600" y="224576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950208" y="2648102"/>
            <a:ext cx="0" cy="71323"/>
          </a:xfrm>
          <a:prstGeom prst="line">
            <a:avLst/>
          </a:prstGeom>
          <a:noFill/>
          <a:ln w="22225">
            <a:solidFill>
              <a:srgbClr val="1E63C4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703320" y="2719426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794760" y="276514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4" descr="icons/ic_searchdoll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2068" y="2802453"/>
            <a:ext cx="236281" cy="23628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233672" y="2719426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229600" y="271942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950208" y="3121762"/>
            <a:ext cx="0" cy="71323"/>
          </a:xfrm>
          <a:prstGeom prst="line">
            <a:avLst/>
          </a:prstGeom>
          <a:noFill/>
          <a:ln w="22225">
            <a:solidFill>
              <a:srgbClr val="1E63C4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703320" y="3193085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794760" y="3238805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5" descr="icons/ic_chartli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2068" y="3276112"/>
            <a:ext cx="236281" cy="236281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233672" y="3193085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229600" y="3193085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3950208" y="3595421"/>
            <a:ext cx="0" cy="71323"/>
          </a:xfrm>
          <a:prstGeom prst="line">
            <a:avLst/>
          </a:prstGeom>
          <a:noFill/>
          <a:ln w="22225">
            <a:solidFill>
              <a:srgbClr val="1E63C4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3703320" y="3666744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3794760" y="3712464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6" descr="icons/ic_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2068" y="3749772"/>
            <a:ext cx="236281" cy="236281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233672" y="3666744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8229600" y="36667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3950208" y="4069080"/>
            <a:ext cx="0" cy="71323"/>
          </a:xfrm>
          <a:prstGeom prst="line">
            <a:avLst/>
          </a:prstGeom>
          <a:noFill/>
          <a:ln w="22225">
            <a:solidFill>
              <a:srgbClr val="1E63C4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703320" y="4140403"/>
            <a:ext cx="5029200" cy="402336"/>
          </a:xfrm>
          <a:prstGeom prst="roundRect">
            <a:avLst>
              <a:gd name="adj" fmla="val 13636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794760" y="4186123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7" descr="icons/ic_dash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2068" y="4223431"/>
            <a:ext cx="236281" cy="236281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233672" y="4140403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8229600" y="4140403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71600"/>
            <a:ext cx="420624" cy="42062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icons/ic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601" y="1426281"/>
            <a:ext cx="311262" cy="3112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9848" y="1344168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 &amp; Scheme Performance
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covering 40 mutual fund schemes.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02920" y="1975104"/>
            <a:ext cx="420624" cy="42062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icons/ic_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01" y="2029785"/>
            <a:ext cx="311262" cy="3112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9848" y="1947672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
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NAV records used for return calculations.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icons/ic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601" y="2633289"/>
            <a:ext cx="311262" cy="3112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9848" y="2551176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
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transactions used for behavioural analysis.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920" y="3182112"/>
            <a:ext cx="420624" cy="42062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4" descr="icons/ic_ba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601" y="3236793"/>
            <a:ext cx="311262" cy="31126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69848" y="3154680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Datasets
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AUM, SIP inflows, category inflows and folios.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02920" y="3785616"/>
            <a:ext cx="420624" cy="420624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5" descr="icons/ic_layer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601" y="3840297"/>
            <a:ext cx="311262" cy="31126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69848" y="3758184"/>
            <a:ext cx="4846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Live NAV
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 and Live NAV for portfolio analysis.</a:t>
            </a:r>
            <a:endParaRPr lang="en-US" sz="13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9987450-8836-C680-9C54-62E2D1DAEABE}"/>
              </a:ext>
            </a:extLst>
          </p:cNvPr>
          <p:cNvGrpSpPr/>
          <p:nvPr/>
        </p:nvGrpSpPr>
        <p:grpSpPr>
          <a:xfrm>
            <a:off x="198120" y="4279391"/>
            <a:ext cx="5349240" cy="502920"/>
            <a:chOff x="502920" y="4361688"/>
            <a:chExt cx="5349240" cy="502920"/>
          </a:xfrm>
        </p:grpSpPr>
        <p:sp>
          <p:nvSpPr>
            <p:cNvPr id="23" name="Shape 15"/>
            <p:cNvSpPr/>
            <p:nvPr/>
          </p:nvSpPr>
          <p:spPr>
            <a:xfrm>
              <a:off x="502920" y="4361688"/>
              <a:ext cx="5349240" cy="502920"/>
            </a:xfrm>
            <a:prstGeom prst="roundRect">
              <a:avLst>
                <a:gd name="adj" fmla="val 12727"/>
              </a:avLst>
            </a:prstGeom>
            <a:solidFill>
              <a:srgbClr val="EAF1FB"/>
            </a:solidFill>
            <a:ln w="9525">
              <a:solidFill>
                <a:srgbClr val="D8E2F0"/>
              </a:solidFill>
              <a:prstDash val="solid"/>
            </a:ln>
            <a:effectLst>
              <a:outerShdw blurRad="101600" dist="25400" dir="5400000" algn="bl" rotWithShape="0">
                <a:srgbClr val="0B2E59">
                  <a:alpha val="12000"/>
                </a:srgbClr>
              </a:outerShdw>
            </a:effectLst>
          </p:spPr>
        </p:sp>
        <p:pic>
          <p:nvPicPr>
            <p:cNvPr id="24" name="Image 6" descr="icons/ic_bulb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49224" y="4549140"/>
              <a:ext cx="274320" cy="274320"/>
            </a:xfrm>
            <a:prstGeom prst="rect">
              <a:avLst/>
            </a:prstGeom>
          </p:spPr>
        </p:pic>
        <p:sp>
          <p:nvSpPr>
            <p:cNvPr id="25" name="Text 16"/>
            <p:cNvSpPr/>
            <p:nvPr/>
          </p:nvSpPr>
          <p:spPr>
            <a:xfrm>
              <a:off x="1033272" y="4507992"/>
              <a:ext cx="4663440" cy="3566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sz="1050" b="1" kern="0" spc="100" dirty="0">
                  <a:solidFill>
                    <a:srgbClr val="1E63C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INSIGHT  </a:t>
              </a:r>
              <a:r>
                <a:rPr lang="en-US" sz="1150" dirty="0">
                  <a:solidFill>
                    <a:srgbClr val="1B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Combining market data and investor data enables comprehensive financial analysis.</a:t>
              </a:r>
              <a:endParaRPr lang="en-US" sz="1050" dirty="0"/>
            </a:p>
          </p:txBody>
        </p:sp>
      </p:grpSp>
      <p:sp>
        <p:nvSpPr>
          <p:cNvPr id="26" name="Shape 17"/>
          <p:cNvSpPr/>
          <p:nvPr/>
        </p:nvSpPr>
        <p:spPr>
          <a:xfrm>
            <a:off x="6172200" y="1371600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2E59"/>
          </a:solidFill>
          <a:ln/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7" name="Text 18"/>
          <p:cNvSpPr/>
          <p:nvPr/>
        </p:nvSpPr>
        <p:spPr>
          <a:xfrm>
            <a:off x="6355080" y="14447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200" dirty="0"/>
          </a:p>
        </p:txBody>
      </p:sp>
      <p:sp>
        <p:nvSpPr>
          <p:cNvPr id="28" name="Text 19"/>
          <p:cNvSpPr/>
          <p:nvPr/>
        </p:nvSpPr>
        <p:spPr>
          <a:xfrm>
            <a:off x="6355080" y="18288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6172200" y="2212848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2E59"/>
          </a:solidFill>
          <a:ln/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30" name="Text 21"/>
          <p:cNvSpPr/>
          <p:nvPr/>
        </p:nvSpPr>
        <p:spPr>
          <a:xfrm>
            <a:off x="6355080" y="2286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</a:t>
            </a:r>
            <a:endParaRPr lang="en-US" sz="2200" dirty="0"/>
          </a:p>
        </p:txBody>
      </p:sp>
      <p:sp>
        <p:nvSpPr>
          <p:cNvPr id="31" name="Text 22"/>
          <p:cNvSpPr/>
          <p:nvPr/>
        </p:nvSpPr>
        <p:spPr>
          <a:xfrm>
            <a:off x="6355080" y="26700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6172200" y="3054096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2E59"/>
          </a:solidFill>
          <a:ln/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33" name="Text 24"/>
          <p:cNvSpPr/>
          <p:nvPr/>
        </p:nvSpPr>
        <p:spPr>
          <a:xfrm>
            <a:off x="6355080" y="31272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200" dirty="0"/>
          </a:p>
        </p:txBody>
      </p:sp>
      <p:sp>
        <p:nvSpPr>
          <p:cNvPr id="34" name="Text 25"/>
          <p:cNvSpPr/>
          <p:nvPr/>
        </p:nvSpPr>
        <p:spPr>
          <a:xfrm>
            <a:off x="6355080" y="35112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172200" y="3895344"/>
            <a:ext cx="2468880" cy="713232"/>
          </a:xfrm>
          <a:prstGeom prst="roundRect">
            <a:avLst>
              <a:gd name="adj" fmla="val 10256"/>
            </a:avLst>
          </a:prstGeom>
          <a:solidFill>
            <a:srgbClr val="0B2E59"/>
          </a:solidFill>
          <a:ln/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6355080" y="396849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200" dirty="0"/>
          </a:p>
        </p:txBody>
      </p:sp>
      <p:sp>
        <p:nvSpPr>
          <p:cNvPr id="37" name="Text 28"/>
          <p:cNvSpPr/>
          <p:nvPr/>
        </p:nvSpPr>
        <p:spPr>
          <a:xfrm>
            <a:off x="6355080" y="43525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1"/>
          <p:cNvSpPr/>
          <p:nvPr/>
        </p:nvSpPr>
        <p:spPr>
          <a:xfrm>
            <a:off x="6170632" y="3626557"/>
            <a:ext cx="2380575" cy="1053935"/>
          </a:xfrm>
          <a:prstGeom prst="roundRect">
            <a:avLst>
              <a:gd name="adj" fmla="val 6338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630168" y="3626557"/>
            <a:ext cx="2380575" cy="1053935"/>
          </a:xfrm>
          <a:prstGeom prst="roundRect">
            <a:avLst>
              <a:gd name="adj" fmla="val 6338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30168" y="2439024"/>
            <a:ext cx="2380575" cy="1053935"/>
          </a:xfrm>
          <a:prstGeom prst="roundRect">
            <a:avLst>
              <a:gd name="adj" fmla="val 6338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65699" y="1274797"/>
            <a:ext cx="2380575" cy="1053935"/>
          </a:xfrm>
          <a:prstGeom prst="roundRect">
            <a:avLst>
              <a:gd name="adj" fmla="val 6338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7160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 and NumPy for ETL and analytics.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and SQL for structured data storage.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and Matplotlib for analysis.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 dashboards and visualization.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 and VS Code for development.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604504" y="4781362"/>
            <a:ext cx="355310" cy="192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1739" y="1399934"/>
            <a:ext cx="497434" cy="4156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ic_pyth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05" y="1453966"/>
            <a:ext cx="368101" cy="30757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70632" y="1251492"/>
            <a:ext cx="2380575" cy="1053935"/>
          </a:xfrm>
          <a:prstGeom prst="roundRect">
            <a:avLst>
              <a:gd name="adj" fmla="val 6338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12203" y="1399934"/>
            <a:ext cx="497434" cy="4156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ic_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869" y="1453966"/>
            <a:ext cx="368101" cy="3075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59460" y="1934323"/>
            <a:ext cx="2202920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SQLite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1739" y="2587466"/>
            <a:ext cx="497434" cy="4156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3" descr="icons/ic_file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405" y="2641498"/>
            <a:ext cx="368101" cy="30757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170632" y="2439024"/>
            <a:ext cx="2380575" cy="1053935"/>
          </a:xfrm>
          <a:prstGeom prst="roundRect">
            <a:avLst>
              <a:gd name="adj" fmla="val 6338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112203" y="2587466"/>
            <a:ext cx="497434" cy="4156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icons/ic_dash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869" y="2641498"/>
            <a:ext cx="368101" cy="30757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59460" y="3121856"/>
            <a:ext cx="2202920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571739" y="3774998"/>
            <a:ext cx="497434" cy="4156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icons/ic_githu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6405" y="3829031"/>
            <a:ext cx="368101" cy="307571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112203" y="3774998"/>
            <a:ext cx="497434" cy="4156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6" descr="icons/ic_vs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6869" y="3829031"/>
            <a:ext cx="368101" cy="30757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18995" y="1934323"/>
            <a:ext cx="2202920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718995" y="3121856"/>
            <a:ext cx="2202920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3718995" y="4309388"/>
            <a:ext cx="2202920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6259460" y="4309388"/>
            <a:ext cx="2202920" cy="2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Analytics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71600"/>
            <a:ext cx="44348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Daily Returns using 46,000 NAV observations.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CAGR, Alpha and Beta.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Sharpe Ratio, Sortino Ratio and Maximum Drawdown.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fund_scorecard.csv and alpha_beta.csv.</a:t>
            </a:r>
            <a:endParaRPr lang="en-US" sz="12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funds using return and risk metrics.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257800" y="129844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HIGHLIGHTS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1600200"/>
            <a:ext cx="1627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22392" y="1746504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icons/ic_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318" y="1796430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85816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23.80%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5385816" y="25694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5-Year CAGR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031736" y="1600200"/>
            <a:ext cx="1627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96328" y="1746504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icons/ic_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254" y="1796430"/>
            <a:ext cx="284196" cy="2841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59752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7.68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7159752" y="25694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Sharpe Ratio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257800" y="2953512"/>
            <a:ext cx="1627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22392" y="3099816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icons/ic_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318" y="3149742"/>
            <a:ext cx="284196" cy="2841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85816" y="3593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1.25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5385816" y="3922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Alpha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031736" y="2953512"/>
            <a:ext cx="162763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196328" y="3099816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4" descr="icons/ic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6254" y="3149742"/>
            <a:ext cx="284196" cy="2841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59752" y="35935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-33.50%</a:t>
            </a:r>
            <a:endParaRPr lang="en-US" sz="2100" dirty="0"/>
          </a:p>
        </p:txBody>
      </p:sp>
      <p:sp>
        <p:nvSpPr>
          <p:cNvPr id="29" name="Text 22"/>
          <p:cNvSpPr/>
          <p:nvPr/>
        </p:nvSpPr>
        <p:spPr>
          <a:xfrm>
            <a:off x="7159752" y="39227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Max Drawdown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02920" y="4297680"/>
            <a:ext cx="8138160" cy="457200"/>
          </a:xfrm>
          <a:prstGeom prst="roundRect">
            <a:avLst>
              <a:gd name="adj" fmla="val 1400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31" name="Image 5" descr="icons/ic_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3891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33272" y="4370832"/>
            <a:ext cx="7452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kern="0" spc="1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 metrics reveal fund quality that raw returns alone cannot capture.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Analytics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53312"/>
            <a:ext cx="402336" cy="40233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icons/ic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224" y="1405616"/>
            <a:ext cx="297729" cy="2977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2416" y="1353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(95%) and CVaR  — 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downside risk exposure for each scheme.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02920" y="1901952"/>
            <a:ext cx="402336" cy="40233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icons/ic_w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224" y="1954256"/>
            <a:ext cx="297729" cy="2977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2416" y="19019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Ratio  — 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risk-adjusted performance stability over time.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2450592"/>
            <a:ext cx="402336" cy="40233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icons/ic_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224" y="2502896"/>
            <a:ext cx="297729" cy="2977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42416" y="24505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Cohort Analysis  — 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investors by behaviour and investment horizon.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02920" y="2999232"/>
            <a:ext cx="402336" cy="40233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4" descr="icons/ic_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224" y="3051536"/>
            <a:ext cx="297729" cy="29772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42416" y="2999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Analysis  — 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consistency of systematic investment plans.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502920" y="3547872"/>
            <a:ext cx="402336" cy="40233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1" name="Image 5" descr="icons/ic_projdiagr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224" y="3600176"/>
            <a:ext cx="297729" cy="29772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42416" y="35478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Recommendation &amp; Sector HHI  —  </a:t>
            </a: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funds and measures sector concentration.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502920" y="416052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24" name="Image 6" descr="icons/ic_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4306824"/>
            <a:ext cx="274320" cy="27432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33272" y="42336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kern="0" spc="1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provide deeper understanding of investment risk and investor behaviour.</a:t>
            </a:r>
            <a:endParaRPr lang="en-US" sz="1050" dirty="0"/>
          </a:p>
        </p:txBody>
      </p:sp>
      <p:graphicFrame>
        <p:nvGraphicFramePr>
          <p:cNvPr id="26" name="Chart 0"/>
          <p:cNvGraphicFramePr/>
          <p:nvPr/>
        </p:nvGraphicFramePr>
        <p:xfrm>
          <a:off x="6126480" y="1353312"/>
          <a:ext cx="25146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344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</p:spPr>
      </p:sp>
      <p:pic>
        <p:nvPicPr>
          <p:cNvPr id="9" name="Image 1" descr="icons/ic_b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16736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234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148840" y="12344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</p:spPr>
      </p:sp>
      <p:pic>
        <p:nvPicPr>
          <p:cNvPr id="12" name="Image 2" descr="icons/ic_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0280" y="13167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4600" y="1234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794760" y="12344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</p:spPr>
      </p:sp>
      <p:pic>
        <p:nvPicPr>
          <p:cNvPr id="15" name="Image 3" descr="icons/ic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1316736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160520" y="1234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440680" y="12344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</p:spPr>
      </p:sp>
      <p:pic>
        <p:nvPicPr>
          <p:cNvPr id="18" name="Image 4" descr="icons/ic_coi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131673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06440" y="1234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7086600" y="123444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</p:spPr>
      </p:sp>
      <p:pic>
        <p:nvPicPr>
          <p:cNvPr id="21" name="Image 5" descr="icons/ic_co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1316736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452360" y="1234440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502920" y="1847088"/>
            <a:ext cx="3950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24" name="Image 6" descr="images/dash_industry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39496" y="1883664"/>
            <a:ext cx="3877056" cy="129844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502920" y="2999232"/>
            <a:ext cx="3950208" cy="219456"/>
          </a:xfrm>
          <a:prstGeom prst="rect">
            <a:avLst/>
          </a:prstGeom>
          <a:solidFill>
            <a:srgbClr val="0B2E59">
              <a:alpha val="88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594360" y="299923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900" dirty="0"/>
          </a:p>
        </p:txBody>
      </p:sp>
      <p:sp>
        <p:nvSpPr>
          <p:cNvPr id="27" name="Shape 18"/>
          <p:cNvSpPr/>
          <p:nvPr/>
        </p:nvSpPr>
        <p:spPr>
          <a:xfrm>
            <a:off x="4654296" y="1847088"/>
            <a:ext cx="3950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28" name="Image 7" descr="images/dash_fun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90872" y="1883664"/>
            <a:ext cx="3877056" cy="129844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4654296" y="2999232"/>
            <a:ext cx="3950208" cy="219456"/>
          </a:xfrm>
          <a:prstGeom prst="rect">
            <a:avLst/>
          </a:prstGeom>
          <a:solidFill>
            <a:srgbClr val="0B2E59">
              <a:alpha val="88000"/>
            </a:srgbClr>
          </a:solidFill>
          <a:ln/>
        </p:spPr>
      </p:sp>
      <p:sp>
        <p:nvSpPr>
          <p:cNvPr id="30" name="Text 20"/>
          <p:cNvSpPr/>
          <p:nvPr/>
        </p:nvSpPr>
        <p:spPr>
          <a:xfrm>
            <a:off x="4745736" y="299923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502920" y="3438144"/>
            <a:ext cx="3950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32" name="Image 8" descr="images/dash_investor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9496" y="3474720"/>
            <a:ext cx="3877056" cy="129844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502920" y="4590288"/>
            <a:ext cx="3950208" cy="219456"/>
          </a:xfrm>
          <a:prstGeom prst="rect">
            <a:avLst/>
          </a:prstGeom>
          <a:solidFill>
            <a:srgbClr val="0B2E59">
              <a:alpha val="88000"/>
            </a:srgbClr>
          </a:solidFill>
          <a:ln/>
        </p:spPr>
      </p:sp>
      <p:sp>
        <p:nvSpPr>
          <p:cNvPr id="34" name="Text 23"/>
          <p:cNvSpPr/>
          <p:nvPr/>
        </p:nvSpPr>
        <p:spPr>
          <a:xfrm>
            <a:off x="594360" y="459028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4654296" y="3438144"/>
            <a:ext cx="395020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36" name="Image 9" descr="images/dash_sip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690872" y="3474720"/>
            <a:ext cx="3877056" cy="1298448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4654296" y="4590288"/>
            <a:ext cx="3950208" cy="219456"/>
          </a:xfrm>
          <a:prstGeom prst="rect">
            <a:avLst/>
          </a:prstGeom>
          <a:solidFill>
            <a:srgbClr val="0B2E59">
              <a:alpha val="88000"/>
            </a:srgbClr>
          </a:solidFill>
          <a:ln/>
        </p:spPr>
      </p:sp>
      <p:sp>
        <p:nvSpPr>
          <p:cNvPr id="38" name="Text 26"/>
          <p:cNvSpPr/>
          <p:nvPr/>
        </p:nvSpPr>
        <p:spPr>
          <a:xfrm>
            <a:off x="4745736" y="459028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&amp; Market Trends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Findings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98448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62175" y="1394826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0" name="Image 1" descr="icons/ic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101" y="1439815"/>
            <a:ext cx="284196" cy="2841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0936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46,000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30936" y="2020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 Processed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441448" y="1298448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721608" y="1426629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2" descr="icons/ic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1658" y="1471451"/>
            <a:ext cx="284196" cy="2841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9464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32,778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2569464" y="2020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379976" y="1298448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630976" y="1428441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0" name="Image 3" descr="icons/ic_co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186" y="1462674"/>
            <a:ext cx="284196" cy="2841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07992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₹31K Cr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4507992" y="2020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318504" y="1298448"/>
            <a:ext cx="181051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588788" y="1371599"/>
            <a:ext cx="384048" cy="38404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5" name="Image 4" descr="icons/ic_lay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714" y="1404890"/>
            <a:ext cx="284196" cy="2841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46520" y="1691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2100" dirty="0"/>
          </a:p>
        </p:txBody>
      </p:sp>
      <p:sp>
        <p:nvSpPr>
          <p:cNvPr id="27" name="Text 20"/>
          <p:cNvSpPr/>
          <p:nvPr/>
        </p:nvSpPr>
        <p:spPr>
          <a:xfrm>
            <a:off x="6446520" y="20208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502920" y="2450592"/>
          <a:ext cx="39776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9" name="Shape 21"/>
          <p:cNvSpPr/>
          <p:nvPr/>
        </p:nvSpPr>
        <p:spPr>
          <a:xfrm>
            <a:off x="4709160" y="2450592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0B2E59"/>
          </a:solidFill>
          <a:ln/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sp>
        <p:nvSpPr>
          <p:cNvPr id="30" name="Text 22"/>
          <p:cNvSpPr/>
          <p:nvPr/>
        </p:nvSpPr>
        <p:spPr>
          <a:xfrm>
            <a:off x="4937760" y="2560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5-Year CAGR: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23.80%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4937760" y="29077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Sharpe Ratio: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7.68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4709160" y="3520440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33" name="Image 5" descr="icons/ic_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464" y="3634740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39512" y="3593592"/>
            <a:ext cx="3246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kern="0" spc="1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metrics provide better fund comparison than returns alone.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4709160" y="4114800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EAF1FB"/>
          </a:solidFill>
          <a:ln w="9525">
            <a:solidFill>
              <a:srgbClr val="D8E2F0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36" name="Image 6" descr="icons/ic_bul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464" y="422910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239512" y="4187952"/>
            <a:ext cx="32461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kern="0" spc="1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participation continues to grow through SIP investments.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371600"/>
            <a:ext cx="8138160" cy="384048"/>
          </a:xfrm>
          <a:prstGeom prst="rect">
            <a:avLst/>
          </a:prstGeom>
          <a:solidFill>
            <a:srgbClr val="0B2E59"/>
          </a:solidFill>
          <a:ln/>
        </p:spPr>
      </p:sp>
      <p:pic>
        <p:nvPicPr>
          <p:cNvPr id="9" name="Image 1" descr="icons/ic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145389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371600"/>
            <a:ext cx="29151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250" dirty="0"/>
          </a:p>
        </p:txBody>
      </p:sp>
      <p:pic>
        <p:nvPicPr>
          <p:cNvPr id="11" name="Image 2" descr="icons/ic_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539" y="145389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23867" y="1371600"/>
            <a:ext cx="42172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02920" y="1755648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512" y="1755648"/>
            <a:ext cx="3143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datasets with different formats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085539" y="1755648"/>
            <a:ext cx="44275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schema mapping and automated format converters during ETL.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2322576"/>
            <a:ext cx="8138160" cy="566928"/>
          </a:xfrm>
          <a:prstGeom prst="rect">
            <a:avLst/>
          </a:prstGeom>
          <a:solidFill>
            <a:srgbClr val="EAF1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67512" y="2322576"/>
            <a:ext cx="3143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inconsistent records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085539" y="2322576"/>
            <a:ext cx="44275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validation rules and targeted imputation to clean the data.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2889504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7512" y="2889504"/>
            <a:ext cx="3143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metric implementation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085539" y="2889504"/>
            <a:ext cx="44275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custom Python functions validated against industry-standard formulas.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456432"/>
            <a:ext cx="8138160" cy="566928"/>
          </a:xfrm>
          <a:prstGeom prst="rect">
            <a:avLst/>
          </a:prstGeom>
          <a:solidFill>
            <a:srgbClr val="EAF1FB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7512" y="3456432"/>
            <a:ext cx="3143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4085539" y="3456432"/>
            <a:ext cx="44275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normalized relational schema for efficient, reliable querying.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2920" y="4023360"/>
            <a:ext cx="81381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2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67512" y="4023360"/>
            <a:ext cx="314370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optimization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085539" y="4023360"/>
            <a:ext cx="44275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DAX measures and used aggregated tables for faster load times.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6460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Performance Analytics  |  Yash Mahajan, PCCOE  |  2026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549640" y="48463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1133856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for interactive user access.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 for continuous data refresh.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 updates from live market feeds.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for scenario-based forecasting.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Portfolio Optimization for allocation strategy.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749040"/>
            <a:ext cx="7589520" cy="0"/>
          </a:xfrm>
          <a:prstGeom prst="line">
            <a:avLst/>
          </a:prstGeom>
          <a:noFill/>
          <a:ln w="31750">
            <a:solidFill>
              <a:srgbClr val="D8E2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208" y="34930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63C4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11" name="Image 1" descr="icons/ic_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1188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31520" y="3364992"/>
            <a:ext cx="91440" cy="91440"/>
          </a:xfrm>
          <a:prstGeom prst="ellipse">
            <a:avLst/>
          </a:prstGeom>
          <a:solidFill>
            <a:srgbClr val="1E63C4"/>
          </a:solidFill>
          <a:ln/>
        </p:spPr>
      </p:sp>
      <p:sp>
        <p:nvSpPr>
          <p:cNvPr id="13" name="Text 9"/>
          <p:cNvSpPr/>
          <p:nvPr/>
        </p:nvSpPr>
        <p:spPr>
          <a:xfrm>
            <a:off x="-125730" y="4041648"/>
            <a:ext cx="1805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-125730" y="424281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418588" y="34930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63C4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16" name="Image 2" descr="icons/ic_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460" y="361188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628900" y="3364992"/>
            <a:ext cx="91440" cy="91440"/>
          </a:xfrm>
          <a:prstGeom prst="ellipse">
            <a:avLst/>
          </a:prstGeom>
          <a:solidFill>
            <a:srgbClr val="1E63C4"/>
          </a:solidFill>
          <a:ln/>
        </p:spPr>
      </p:sp>
      <p:sp>
        <p:nvSpPr>
          <p:cNvPr id="18" name="Text 13"/>
          <p:cNvSpPr/>
          <p:nvPr/>
        </p:nvSpPr>
        <p:spPr>
          <a:xfrm>
            <a:off x="1771650" y="4041648"/>
            <a:ext cx="1805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771650" y="424281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315968" y="34930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63C4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21" name="Image 3" descr="icons/ic_w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3611880"/>
            <a:ext cx="274320" cy="274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526280" y="3364992"/>
            <a:ext cx="91440" cy="91440"/>
          </a:xfrm>
          <a:prstGeom prst="ellipse">
            <a:avLst/>
          </a:prstGeom>
          <a:solidFill>
            <a:srgbClr val="1E63C4"/>
          </a:solidFill>
          <a:ln/>
        </p:spPr>
      </p:sp>
      <p:sp>
        <p:nvSpPr>
          <p:cNvPr id="23" name="Text 17"/>
          <p:cNvSpPr/>
          <p:nvPr/>
        </p:nvSpPr>
        <p:spPr>
          <a:xfrm>
            <a:off x="3669030" y="4041648"/>
            <a:ext cx="1805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3669030" y="424281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213348" y="34930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63C4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26" name="Image 4" descr="icons/ic_projdiag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2220" y="3611880"/>
            <a:ext cx="274320" cy="2743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423660" y="3364992"/>
            <a:ext cx="91440" cy="91440"/>
          </a:xfrm>
          <a:prstGeom prst="ellipse">
            <a:avLst/>
          </a:prstGeom>
          <a:solidFill>
            <a:srgbClr val="1E63C4"/>
          </a:solidFill>
          <a:ln/>
        </p:spPr>
      </p:sp>
      <p:sp>
        <p:nvSpPr>
          <p:cNvPr id="28" name="Text 21"/>
          <p:cNvSpPr/>
          <p:nvPr/>
        </p:nvSpPr>
        <p:spPr>
          <a:xfrm>
            <a:off x="5566410" y="4041648"/>
            <a:ext cx="1805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5566410" y="424281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10728" y="349300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63C4"/>
            </a:solidFill>
            <a:prstDash val="solid"/>
          </a:ln>
          <a:effectLst>
            <a:outerShdw blurRad="101600" dist="25400" dir="5400000" algn="bl" rotWithShape="0">
              <a:srgbClr val="0B2E59">
                <a:alpha val="12000"/>
              </a:srgbClr>
            </a:outerShdw>
          </a:effectLst>
        </p:spPr>
      </p:sp>
      <p:pic>
        <p:nvPicPr>
          <p:cNvPr id="31" name="Image 5" descr="icons/ic_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611880"/>
            <a:ext cx="274320" cy="27432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8321040" y="3364992"/>
            <a:ext cx="91440" cy="91440"/>
          </a:xfrm>
          <a:prstGeom prst="ellipse">
            <a:avLst/>
          </a:prstGeom>
          <a:solidFill>
            <a:srgbClr val="1E63C4"/>
          </a:solidFill>
          <a:ln/>
        </p:spPr>
      </p:sp>
      <p:sp>
        <p:nvSpPr>
          <p:cNvPr id="33" name="Text 25"/>
          <p:cNvSpPr/>
          <p:nvPr/>
        </p:nvSpPr>
        <p:spPr>
          <a:xfrm>
            <a:off x="7463790" y="4041648"/>
            <a:ext cx="1805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463790" y="4242816"/>
            <a:ext cx="1805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B2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Optimization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6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E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pic>
        <p:nvPicPr>
          <p:cNvPr id="4" name="Image 0" descr="images/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2608"/>
            <a:ext cx="384048" cy="3840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097280"/>
            <a:ext cx="8138160" cy="0"/>
          </a:xfrm>
          <a:prstGeom prst="line">
            <a:avLst/>
          </a:prstGeom>
          <a:noFill/>
          <a:ln w="12700">
            <a:solidFill>
              <a:srgbClr val="D8E2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298448"/>
            <a:ext cx="8138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complete ETL to SQLite to Analytics to Power BI workflow.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46,000 NAV records, 32,778 investor transactions and 40 mutual fund schemes.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financial metrics and advanced analytics.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interactive four-page dashboard.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practical application of data engineering and financial analytics.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3246120"/>
            <a:ext cx="9144000" cy="1897380"/>
          </a:xfrm>
          <a:prstGeom prst="rect">
            <a:avLst/>
          </a:prstGeom>
          <a:solidFill>
            <a:srgbClr val="0B2E59"/>
          </a:solidFill>
          <a:ln/>
        </p:spPr>
      </p:sp>
      <p:sp>
        <p:nvSpPr>
          <p:cNvPr id="8" name="Shape 5"/>
          <p:cNvSpPr/>
          <p:nvPr/>
        </p:nvSpPr>
        <p:spPr>
          <a:xfrm>
            <a:off x="7589520" y="2697480"/>
            <a:ext cx="2377440" cy="2377440"/>
          </a:xfrm>
          <a:prstGeom prst="ellipse">
            <a:avLst/>
          </a:prstGeom>
          <a:solidFill>
            <a:srgbClr val="123B72"/>
          </a:solidFill>
          <a:ln/>
        </p:spPr>
      </p:sp>
      <p:sp>
        <p:nvSpPr>
          <p:cNvPr id="9" name="Shape 6"/>
          <p:cNvSpPr/>
          <p:nvPr/>
        </p:nvSpPr>
        <p:spPr>
          <a:xfrm>
            <a:off x="-822960" y="4069080"/>
            <a:ext cx="1645920" cy="1645920"/>
          </a:xfrm>
          <a:prstGeom prst="ellipse">
            <a:avLst/>
          </a:prstGeom>
          <a:solidFill>
            <a:srgbClr val="123B72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50215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48640" y="4142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</a:t>
            </a:r>
            <a:r>
              <a:rPr lang="en-US" sz="1200" dirty="0">
                <a:solidFill>
                  <a:srgbClr val="C7D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discuss the methodology, metrics or dashboard in detail.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35240" y="3630168"/>
            <a:ext cx="685800" cy="685800"/>
          </a:xfrm>
          <a:prstGeom prst="ellipse">
            <a:avLst/>
          </a:prstGeom>
          <a:solidFill>
            <a:srgbClr val="123B72"/>
          </a:solidFill>
          <a:ln/>
        </p:spPr>
      </p:sp>
      <p:pic>
        <p:nvPicPr>
          <p:cNvPr id="13" name="Image 1" descr="icons/ic_ques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3726180"/>
            <a:ext cx="493776" cy="493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921</Words>
  <Application>Microsoft Office PowerPoint</Application>
  <PresentationFormat>On-screen Show (16:9)</PresentationFormat>
  <Paragraphs>193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Mutual Fund Performance Analytics and Investor Insights</dc:title>
  <dc:subject>PptxGenJS Presentation</dc:subject>
  <dc:creator>Yash Mahajan</dc:creator>
  <cp:lastModifiedBy>hitoy</cp:lastModifiedBy>
  <cp:revision>3</cp:revision>
  <dcterms:created xsi:type="dcterms:W3CDTF">2026-07-09T18:31:58Z</dcterms:created>
  <dcterms:modified xsi:type="dcterms:W3CDTF">2026-07-10T10:39:33Z</dcterms:modified>
</cp:coreProperties>
</file>